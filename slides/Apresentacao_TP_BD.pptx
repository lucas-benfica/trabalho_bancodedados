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27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E8B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Do Mundo Real ao Insight</a:t>
            </a:r>
          </a:p>
          <a:p>
            <a:r>
              <a:rPr sz="2400" i="1">
                <a:solidFill>
                  <a:srgbClr val="E8B40F"/>
                </a:solidFill>
              </a:rPr>
              <a:t>Modelagem, implementação e análise do CPGF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Lucas Soares Benfica</a:t>
            </a:r>
          </a:p>
          <a:p>
            <a:r>
              <a:rPr sz="2200">
                <a:solidFill>
                  <a:srgbClr val="FFFFFF"/>
                </a:solidFill>
              </a:rPr>
              <a:t>Vinícius Cardoso Antunes</a:t>
            </a:r>
          </a:p>
          <a:p>
            <a:r>
              <a:rPr sz="2200">
                <a:solidFill>
                  <a:srgbClr val="FFFFFF"/>
                </a:solidFill>
              </a:rPr>
              <a:t>Pedro Soares Pinto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E8B40F"/>
                </a:solidFill>
              </a:rPr>
              <a:t>DCC/UFMG · Banco de Dados · Prof. Pedro H. Barros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Como vamos conduzir os próximos ~14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Domínio escolhido e justificativa — CPGF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Etapa 1 — Modelo Conceitual (ER/EER)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Etapa 2 — Modelo Relacional + Normalização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Etapa 3 — Implementação SQL + carga em PostgreSQL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Etapa 4 — 5 perguntas analíticas e os insights encontrados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Conclusão, limitações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 que é o CPGF — por que essa 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Cartão de Pagamento do Governo Federal · Portal da Transparência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Cartão de crédito corporativo de Unidades Gestoras da Administração Pública Federal.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Cada transação registra órgão, portador, favorecido, data, tipo e valor.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Base pública (LAI), volume robusto — 50-100 mil transações por mês.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Riqueza estrutural natural: 4+ entidades, hierarquia em 3 níveis, especialização PF/PJ.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Domínio de alto interesse social — controle de gastos públicos.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Etapa 1 — Modelo Conceitual (ER/EER)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7 entidades, notação ER clássica + extensão EER (especialização)</a:t>
            </a:r>
          </a:p>
        </p:txBody>
      </p:sp>
      <p:pic>
        <p:nvPicPr>
          <p:cNvPr id="5" name="Picture 4" descr="diagrama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03016"/>
            <a:ext cx="12191695" cy="3402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Etapa 1 — Restrições de integridade do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R1. valor ≠ 0; reversões/estornos têm valor negativo (R2).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R3. data_transacao válida e próxima do mês-ano do extrato.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R4. mes_extrato ∈ {1..12}; ano_extrato ∈ [2003, atual].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R5. cpf_portador na máscara anonimizada ***.NNN.NNN-**.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R6. cpf_cnpj_favorecido: 11 dígitos = PF, 14 = PJ.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R7-R8. Integridade referencial entre os 4 níveis da hierarquia.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R9. Discriminador de especialização EER: tipo ∈ {PF, PJ, NI}.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Etapa 2 — Esquema relacional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9 relações com PK/FK explícitas em PostgreSQL</a:t>
            </a:r>
          </a:p>
        </p:txBody>
      </p:sp>
      <p:pic>
        <p:nvPicPr>
          <p:cNvPr id="5" name="Picture 4" descr="diagrama_rel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280"/>
            <a:ext cx="12076431" cy="4922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Etapa 2 — Normalização até BCNF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Por quê: o CSV bruto viola 3FN com várias DFs transitivas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CSV bruto = tabela plana de 15 colunas — viola 3FN.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DFs transitivas como codigo_orgao_superior → nome_orgao_superior geravam: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   · anomalias de atualização (renomear ministério = atualizar milhões de linhas)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   · anomalias de inserção (criar UG sem ter transação)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   · redundância massiva (nome de ministério repetido N vezes)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Decomposição: cada DF transitiva virou tabela própria.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Resultado: 9 relações em BCNF (e portanto 3FN). JOIN natural reconstrói o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Etapa 3 — Implementação em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sql/01_ddl.sql — CREATE TABLE com PKs, FKs, CHECKs e índices.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Restrições de domínio embarcadas no schema (CHECK valor &lt;&gt; 0, mês 1..12...).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scripts/carregar_dados.py — pipeline Python que lê CSV (LATIN1, sep=;),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   tipa, limpa e popula em ordem topológica. Suporta PostgreSQL e SQLite.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Limpeza documentada: chaves nulas, valor 0, mês inválido, duplicatas.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Sobre amostra de 10 mil linhas: 9.898 carregadas (101 descartes auditados).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Tudo idempotente — re-executar não polui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P1 — Quais ministérios mais gastam via CPGF?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JOIN 3 tabelas + GROUP BY + agregações</a:t>
            </a:r>
          </a:p>
        </p:txBody>
      </p:sp>
      <p:pic>
        <p:nvPicPr>
          <p:cNvPr id="5" name="Picture 4" descr="q1_gasto_por_ministe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" y="1280160"/>
            <a:ext cx="1126540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P2 — Há sazonalidade nos gastos?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GROUP BY composto + agregação temporal</a:t>
            </a:r>
          </a:p>
        </p:txBody>
      </p:sp>
      <p:pic>
        <p:nvPicPr>
          <p:cNvPr id="5" name="Picture 4" descr="q2_serie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2191997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P3 — Top-10 favorecidos e concentração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JOIN + GROUP BY + HAVING + LIMIT</a:t>
            </a:r>
          </a:p>
        </p:txBody>
      </p:sp>
      <p:pic>
        <p:nvPicPr>
          <p:cNvPr id="5" name="Picture 4" descr="q3_top_favorec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" y="1280160"/>
            <a:ext cx="1126540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P4 — Distribuição por tipo de transação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Saques em espécie merecem monitoramento</a:t>
            </a:r>
          </a:p>
        </p:txBody>
      </p:sp>
      <p:pic>
        <p:nvPicPr>
          <p:cNvPr id="5" name="Picture 4" descr="q4_tipo_trans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" y="1280160"/>
            <a:ext cx="1126540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P5 — Outliers por ministério (Window Function)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CTE + RANK() OVER (PARTITION BY ministerio ORDER BY gasto DESC)</a:t>
            </a:r>
          </a:p>
        </p:txBody>
      </p:sp>
      <p:pic>
        <p:nvPicPr>
          <p:cNvPr id="5" name="Picture 4" descr="q5_top_port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10" y="1143000"/>
            <a:ext cx="10332873" cy="5636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Bônus — Detecção de anomalias e ligação com a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Consulta extra: transações fora do padrão estatístico (μ + 3σ).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Triagem inicial automatizada — útil ao controle interno.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Atende critério bônus: 'técnicas além do escopo'.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CPGF é exemplo didático da Lei de Acesso à Informação (LAI):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   · dado pessoal anonimizado, público por construção, pensado para controle social.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Cruzar dimensões (órgão × portador × favorecido × tipo) = trabalho da CGU.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Cobrimos o ciclo completo: ER → Relacional → SQL → EDA.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Aprendemos: qualidade da modelagem conceitual = clareza das consultas.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Resultado: 9 relações em BCNF, 5 consultas analíticas + 1 bônus, todos os requisitos cobertos.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Limitações: resultados mostrados sobre amostra de validação — pipeline pronto para os CSVs reais.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Próximos passos: cruzamento com CEIS (Sanções), carga incremental, dashboard interativo.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1216" y="2194560"/>
            <a:ext cx="403052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 dirty="0" err="1">
                <a:solidFill>
                  <a:srgbClr val="FFFFFF"/>
                </a:solidFill>
              </a:rPr>
              <a:t>Obrigado</a:t>
            </a:r>
            <a:r>
              <a:rPr sz="7200" b="1" dirty="0">
                <a:solidFill>
                  <a:srgbClr val="FFFFFF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Declaração de uso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3A5F"/>
                </a:solidFill>
              </a:rPr>
              <a:t>Conforme permitido pelo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6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Ferramenta </a:t>
            </a:r>
            <a:r>
              <a:rPr sz="1700" dirty="0" err="1">
                <a:solidFill>
                  <a:srgbClr val="333333"/>
                </a:solidFill>
              </a:rPr>
              <a:t>utilizada</a:t>
            </a:r>
            <a:r>
              <a:rPr sz="1700" dirty="0">
                <a:solidFill>
                  <a:srgbClr val="333333"/>
                </a:solidFill>
              </a:rPr>
              <a:t>: </a:t>
            </a:r>
            <a:r>
              <a:rPr sz="1700" dirty="0" err="1">
                <a:solidFill>
                  <a:srgbClr val="333333"/>
                </a:solidFill>
              </a:rPr>
              <a:t>assistente</a:t>
            </a:r>
            <a:r>
              <a:rPr sz="1700" dirty="0">
                <a:solidFill>
                  <a:srgbClr val="333333"/>
                </a:solidFill>
              </a:rPr>
              <a:t> de IA </a:t>
            </a:r>
            <a:r>
              <a:rPr sz="1700" dirty="0" err="1">
                <a:solidFill>
                  <a:srgbClr val="333333"/>
                </a:solidFill>
              </a:rPr>
              <a:t>generativa</a:t>
            </a:r>
            <a:r>
              <a:rPr sz="1700" dirty="0">
                <a:solidFill>
                  <a:srgbClr val="333333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Onde </a:t>
            </a:r>
            <a:r>
              <a:rPr sz="1700" dirty="0" err="1">
                <a:solidFill>
                  <a:srgbClr val="333333"/>
                </a:solidFill>
              </a:rPr>
              <a:t>foi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usada</a:t>
            </a:r>
            <a:r>
              <a:rPr sz="1700" dirty="0">
                <a:solidFill>
                  <a:srgbClr val="333333"/>
                </a:solidFill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    · </a:t>
            </a:r>
            <a:r>
              <a:rPr sz="1700" dirty="0" err="1">
                <a:solidFill>
                  <a:srgbClr val="333333"/>
                </a:solidFill>
              </a:rPr>
              <a:t>apoio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na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redação</a:t>
            </a:r>
            <a:r>
              <a:rPr sz="1700" dirty="0">
                <a:solidFill>
                  <a:srgbClr val="333333"/>
                </a:solidFill>
              </a:rPr>
              <a:t> do </a:t>
            </a:r>
            <a:r>
              <a:rPr sz="1700" dirty="0" err="1">
                <a:solidFill>
                  <a:srgbClr val="333333"/>
                </a:solidFill>
              </a:rPr>
              <a:t>relatório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técnico</a:t>
            </a:r>
            <a:r>
              <a:rPr sz="1700" dirty="0">
                <a:solidFill>
                  <a:srgbClr val="333333"/>
                </a:solidFill>
              </a:rPr>
              <a:t> e </a:t>
            </a:r>
            <a:r>
              <a:rPr sz="1700" dirty="0" err="1">
                <a:solidFill>
                  <a:srgbClr val="333333"/>
                </a:solidFill>
              </a:rPr>
              <a:t>destes</a:t>
            </a:r>
            <a:r>
              <a:rPr sz="1700" dirty="0">
                <a:solidFill>
                  <a:srgbClr val="333333"/>
                </a:solidFill>
              </a:rPr>
              <a:t> slides;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    · </a:t>
            </a:r>
            <a:r>
              <a:rPr sz="1700" dirty="0" err="1">
                <a:solidFill>
                  <a:srgbClr val="333333"/>
                </a:solidFill>
              </a:rPr>
              <a:t>sugestões</a:t>
            </a:r>
            <a:r>
              <a:rPr sz="1700" dirty="0">
                <a:solidFill>
                  <a:srgbClr val="333333"/>
                </a:solidFill>
              </a:rPr>
              <a:t> de boas </a:t>
            </a:r>
            <a:r>
              <a:rPr sz="1700" dirty="0" err="1">
                <a:solidFill>
                  <a:srgbClr val="333333"/>
                </a:solidFill>
              </a:rPr>
              <a:t>práticas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em</a:t>
            </a:r>
            <a:r>
              <a:rPr sz="1700" dirty="0">
                <a:solidFill>
                  <a:srgbClr val="333333"/>
                </a:solidFill>
              </a:rPr>
              <a:t> SQL e </a:t>
            </a:r>
            <a:r>
              <a:rPr sz="1700" dirty="0" err="1">
                <a:solidFill>
                  <a:srgbClr val="333333"/>
                </a:solidFill>
              </a:rPr>
              <a:t>modelagem</a:t>
            </a:r>
            <a:r>
              <a:rPr sz="1700" dirty="0">
                <a:solidFill>
                  <a:srgbClr val="333333"/>
                </a:solidFill>
              </a:rPr>
              <a:t> ER/EER;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    · </a:t>
            </a:r>
            <a:r>
              <a:rPr sz="1700" dirty="0" err="1">
                <a:solidFill>
                  <a:srgbClr val="333333"/>
                </a:solidFill>
              </a:rPr>
              <a:t>revisão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ortográfica</a:t>
            </a:r>
            <a:r>
              <a:rPr sz="1700" dirty="0">
                <a:solidFill>
                  <a:srgbClr val="333333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O </a:t>
            </a:r>
            <a:r>
              <a:rPr sz="1700" dirty="0" err="1">
                <a:solidFill>
                  <a:srgbClr val="333333"/>
                </a:solidFill>
              </a:rPr>
              <a:t>que</a:t>
            </a:r>
            <a:r>
              <a:rPr sz="1700" dirty="0">
                <a:solidFill>
                  <a:srgbClr val="333333"/>
                </a:solidFill>
              </a:rPr>
              <a:t> NÃO </a:t>
            </a:r>
            <a:r>
              <a:rPr sz="1700" dirty="0" err="1">
                <a:solidFill>
                  <a:srgbClr val="333333"/>
                </a:solidFill>
              </a:rPr>
              <a:t>foi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delegado</a:t>
            </a:r>
            <a:r>
              <a:rPr sz="1700" dirty="0">
                <a:solidFill>
                  <a:srgbClr val="333333"/>
                </a:solidFill>
              </a:rPr>
              <a:t> à IA: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    · </a:t>
            </a:r>
            <a:r>
              <a:rPr sz="1700" dirty="0" err="1">
                <a:solidFill>
                  <a:srgbClr val="333333"/>
                </a:solidFill>
              </a:rPr>
              <a:t>decisões</a:t>
            </a:r>
            <a:r>
              <a:rPr sz="1700" dirty="0">
                <a:solidFill>
                  <a:srgbClr val="333333"/>
                </a:solidFill>
              </a:rPr>
              <a:t> de </a:t>
            </a:r>
            <a:r>
              <a:rPr sz="1700" dirty="0" err="1">
                <a:solidFill>
                  <a:srgbClr val="333333"/>
                </a:solidFill>
              </a:rPr>
              <a:t>modelagem</a:t>
            </a:r>
            <a:r>
              <a:rPr sz="1700" dirty="0">
                <a:solidFill>
                  <a:srgbClr val="333333"/>
                </a:solidFill>
              </a:rPr>
              <a:t> e </a:t>
            </a:r>
            <a:r>
              <a:rPr sz="1700" dirty="0" err="1">
                <a:solidFill>
                  <a:srgbClr val="333333"/>
                </a:solidFill>
              </a:rPr>
              <a:t>normalização</a:t>
            </a:r>
            <a:r>
              <a:rPr sz="1700" dirty="0">
                <a:solidFill>
                  <a:srgbClr val="333333"/>
                </a:solidFill>
              </a:rPr>
              <a:t>;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    · </a:t>
            </a:r>
            <a:r>
              <a:rPr sz="1700" dirty="0" err="1">
                <a:solidFill>
                  <a:srgbClr val="333333"/>
                </a:solidFill>
              </a:rPr>
              <a:t>interpretação</a:t>
            </a:r>
            <a:r>
              <a:rPr sz="1700" dirty="0">
                <a:solidFill>
                  <a:srgbClr val="333333"/>
                </a:solidFill>
              </a:rPr>
              <a:t> dos </a:t>
            </a:r>
            <a:r>
              <a:rPr sz="1700" dirty="0" err="1">
                <a:solidFill>
                  <a:srgbClr val="333333"/>
                </a:solidFill>
              </a:rPr>
              <a:t>resultados</a:t>
            </a:r>
            <a:r>
              <a:rPr sz="1700" dirty="0">
                <a:solidFill>
                  <a:srgbClr val="333333"/>
                </a:solidFill>
              </a:rPr>
              <a:t> e </a:t>
            </a:r>
            <a:r>
              <a:rPr sz="1700" dirty="0" err="1">
                <a:solidFill>
                  <a:srgbClr val="333333"/>
                </a:solidFill>
              </a:rPr>
              <a:t>discussão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crítica</a:t>
            </a:r>
            <a:r>
              <a:rPr sz="1700" dirty="0">
                <a:solidFill>
                  <a:srgbClr val="333333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700" dirty="0">
                <a:solidFill>
                  <a:srgbClr val="333333"/>
                </a:solidFill>
              </a:rPr>
              <a:t>• </a:t>
            </a:r>
            <a:r>
              <a:rPr sz="1700" dirty="0" err="1">
                <a:solidFill>
                  <a:srgbClr val="333333"/>
                </a:solidFill>
              </a:rPr>
              <a:t>Bibliotecas</a:t>
            </a:r>
            <a:r>
              <a:rPr sz="1700" dirty="0">
                <a:solidFill>
                  <a:srgbClr val="333333"/>
                </a:solidFill>
              </a:rPr>
              <a:t> </a:t>
            </a:r>
            <a:r>
              <a:rPr sz="1700" dirty="0" err="1">
                <a:solidFill>
                  <a:srgbClr val="333333"/>
                </a:solidFill>
              </a:rPr>
              <a:t>utilizadas</a:t>
            </a:r>
            <a:r>
              <a:rPr sz="1700" dirty="0">
                <a:solidFill>
                  <a:srgbClr val="333333"/>
                </a:solidFill>
              </a:rPr>
              <a:t>: pandas, matplotlib, </a:t>
            </a:r>
            <a:r>
              <a:rPr sz="1700" dirty="0" err="1">
                <a:solidFill>
                  <a:srgbClr val="333333"/>
                </a:solidFill>
              </a:rPr>
              <a:t>graphviz</a:t>
            </a:r>
            <a:r>
              <a:rPr sz="1700" dirty="0">
                <a:solidFill>
                  <a:srgbClr val="333333"/>
                </a:solidFill>
              </a:rPr>
              <a:t>, python-docx, python-pptx.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931</Words>
  <Application>Microsoft Office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Soares Benfica</cp:lastModifiedBy>
  <cp:revision>2</cp:revision>
  <dcterms:created xsi:type="dcterms:W3CDTF">2013-01-27T09:14:16Z</dcterms:created>
  <dcterms:modified xsi:type="dcterms:W3CDTF">2026-06-23T01:36:19Z</dcterms:modified>
  <cp:category/>
</cp:coreProperties>
</file>