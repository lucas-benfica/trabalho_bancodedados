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627" y="4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Triangle 2"/>
          <p:cNvSpPr/>
          <p:nvPr/>
        </p:nvSpPr>
        <p:spPr>
          <a:xfrm rot="10800000">
            <a:off x="8686800" y="0"/>
            <a:ext cx="3657600" cy="6858000"/>
          </a:xfrm>
          <a:prstGeom prst="rtTriangl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9144000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E8B40F"/>
                </a:solidFill>
                <a:latin typeface="Calibri"/>
              </a:rPr>
              <a:t>TRABALHO PRÁTICO · BANCO DE DADOS · DCC/UFMG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058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Do Mundo Real ao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 i="1">
                <a:solidFill>
                  <a:srgbClr val="E8B40F"/>
                </a:solidFill>
                <a:latin typeface="Calibri"/>
              </a:rPr>
              <a:t>Modelagem, implementação e análise do CPGF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100584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2000">
                <a:solidFill>
                  <a:srgbClr val="FFFFFF"/>
                </a:solidFill>
              </a:rPr>
              <a:t>Lucas Soares Benfica</a:t>
            </a:r>
          </a:p>
          <a:p>
            <a:pPr>
              <a:spcAft>
                <a:spcPts val="200"/>
              </a:spcAft>
            </a:pPr>
            <a:r>
              <a:rPr sz="2000">
                <a:solidFill>
                  <a:srgbClr val="FFFFFF"/>
                </a:solidFill>
              </a:rPr>
              <a:t>Vinícius Cardoso Antunes</a:t>
            </a:r>
          </a:p>
          <a:p>
            <a:pPr>
              <a:spcAft>
                <a:spcPts val="200"/>
              </a:spcAft>
            </a:pPr>
            <a:r>
              <a:rPr sz="2000">
                <a:solidFill>
                  <a:srgbClr val="FFFFFF"/>
                </a:solidFill>
              </a:rPr>
              <a:t>Pedro Soares Pinto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E8B40F"/>
                </a:solidFill>
                <a:latin typeface="Calibri"/>
              </a:rPr>
              <a:t>Prof. Pedro H. Barros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O caminho dos próximos ~14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18288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2E86AB"/>
                </a:solidFill>
                <a:latin typeface="Calibri"/>
              </a:rPr>
              <a:t>Domínio escolhido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  <a:latin typeface="Calibri"/>
              </a:rPr>
              <a:t>Por que o CPGF é um caso ideal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6304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434840" y="160020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18288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60020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Modelo Conceitual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10312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  <a:latin typeface="Calibri"/>
              </a:rPr>
              <a:t>ER/EER · 7 entidades · restrições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75320" y="1600200"/>
            <a:ext cx="457200" cy="457200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18288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160020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6A1B9A"/>
                </a:solidFill>
                <a:latin typeface="Calibri"/>
              </a:rPr>
              <a:t>Modelo Relacional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0312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  <a:latin typeface="Calibri"/>
              </a:rPr>
              <a:t>Mapeamento + Normalização BCNF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8620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94360" y="402336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18288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02336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Implementação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  <a:latin typeface="Calibri"/>
              </a:rPr>
              <a:t>DDL + Carga em PostgreSQL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88620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34840" y="4023360"/>
            <a:ext cx="457200" cy="457200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18288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02336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Consultas &amp; Insights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5262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  <a:latin typeface="Calibri"/>
              </a:rPr>
              <a:t>5 perguntas analíticas + bônus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886200"/>
            <a:ext cx="3657600" cy="22402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275320" y="402336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18288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023360"/>
            <a:ext cx="2834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Conclusão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262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  <a:latin typeface="Calibri"/>
              </a:rPr>
              <a:t>Aprendizados e próximos passos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Por que o CPGF?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Cartão de Pagamento do Governo Federal · Portal da Transparência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5303520" cy="4572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O que 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49377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Cartão de crédito corporativo de UGs federais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Transação = órgão, portador, favorecido, data, tipo, valor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Publicado mensalmente pelo Portal da Transparência (CGU)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Dado pessoal anonimizado conforme LGPD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46304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60020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2E86AB"/>
                </a:solidFill>
                <a:latin typeface="Calibri"/>
              </a:rPr>
              <a:t>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0312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  <a:latin typeface="Calibri"/>
              </a:rPr>
              <a:t>50-100 mil transações/mês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46304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89720" y="160020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Estrutura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210312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  <a:latin typeface="Calibri"/>
              </a:rPr>
              <a:t>4+ entidades (hierarquia + EER)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397764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Abertura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48056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  <a:latin typeface="Calibri"/>
              </a:rPr>
              <a:t>Acesso público via LAI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89720" y="397764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Relevância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448056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  <a:latin typeface="Calibri"/>
              </a:rPr>
              <a:t>Controle social do gasto público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Etapa 1 — Modelo Conceitual (ER/EER)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7 entidades · notação ER clássica + extensão EER (especialização disjunta total)</a:t>
            </a:r>
          </a:p>
        </p:txBody>
      </p:sp>
      <p:pic>
        <p:nvPicPr>
          <p:cNvPr id="6" name="Picture 5" descr="diagrama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2" y="2214372"/>
            <a:ext cx="12144490" cy="3389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Restrições de Integridade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Nove restrições do domínio · embarcadas no schema PostgreSQL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3703320" cy="4572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3337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Valores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3375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R1  valor ≠ 0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R2  valor &gt; 0 (negativo só em reversões)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703320" cy="4572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1600200"/>
            <a:ext cx="3337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E86AB"/>
                </a:solidFill>
                <a:latin typeface="Calibri"/>
              </a:rPr>
              <a:t>Datas &amp; Formato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20"/>
            <a:ext cx="33375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R3  data próxima do mês-ano do extrato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R4  mês ∈ {1..12}; ano ≥ 2003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R5  CPF do portador na máscara ***.NNN.NNN-**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63040"/>
            <a:ext cx="3703320" cy="4572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1600200"/>
            <a:ext cx="3337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Identificação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03120"/>
            <a:ext cx="33375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R6  11 dígitos = PF; 14 = PJ; outros = NI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R7  integridade referencial (4 FKs em TRANSACAO)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R8  hierarquia UG → Subordinado → Superior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R9  discriminador EER ∈ {PF, PJ, NI}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Etapa 2 — Esquema Relacional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9 relações com PK/FK explícitas em PostgreSQL</a:t>
            </a:r>
          </a:p>
        </p:txBody>
      </p:sp>
      <p:pic>
        <p:nvPicPr>
          <p:cNvPr id="6" name="Picture 5" descr="diagrama_rel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37" y="1554480"/>
            <a:ext cx="12113821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Normalização até BCNF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Por que decompor o CSV bruto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3474720" cy="39319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C0504D"/>
                </a:solidFill>
                <a:latin typeface="Calibri"/>
              </a:rPr>
              <a:t>CSV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Tabela plana de 15 colunas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DFs transitivas internas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Viola 3FN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77640" y="3200400"/>
            <a:ext cx="274320" cy="45720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297680" y="1463040"/>
            <a:ext cx="3474720" cy="39319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600200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Calibri"/>
              </a:rPr>
              <a:t>Anomalias geradas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0312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Update: renomear ministério = milhões de updates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Insert: nova UG depende de transação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Redundância massiva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18120" y="3200400"/>
            <a:ext cx="274320" cy="45720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39319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1600200"/>
            <a:ext cx="3108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2E7D32"/>
                </a:solidFill>
                <a:latin typeface="Calibri"/>
              </a:rPr>
              <a:t>9 relações em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Cada DF transitiva → tabela própria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JOIN natural reconstrói o CSV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Sem dependência não-chave → não-chave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1">
                <a:solidFill>
                  <a:srgbClr val="555B66"/>
                </a:solidFill>
                <a:latin typeface="Calibri"/>
              </a:rPr>
              <a:t>Decisão de NÃO desnormalizar: consistência &gt; microsegundos no contexto de LAI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Etapa 3 — Implementação em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DDL + pipeline ETL + limpeza · totalmente reprodutível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4291" y="1463040"/>
            <a:ext cx="2148840" cy="11887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4291" y="1600200"/>
            <a:ext cx="2148840" cy="6537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291" y="2176272"/>
            <a:ext cx="2148840" cy="4160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tabelas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2859" y="1463040"/>
            <a:ext cx="2148840" cy="1188720"/>
          </a:xfrm>
          <a:prstGeom prst="roundRect">
            <a:avLst>
              <a:gd name="adj" fmla="val 6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62859" y="1600200"/>
            <a:ext cx="2148840" cy="6537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2859" y="2176272"/>
            <a:ext cx="2148840" cy="4160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restrições R1-R9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1427" y="1463040"/>
            <a:ext cx="2148840" cy="1188720"/>
          </a:xfrm>
          <a:prstGeom prst="roundRect">
            <a:avLst>
              <a:gd name="adj" fmla="val 6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1427" y="1600200"/>
            <a:ext cx="2148840" cy="6537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1427" y="2176272"/>
            <a:ext cx="2148840" cy="4160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índices auxiliares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79995" y="1463040"/>
            <a:ext cx="2148840" cy="118872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79995" y="1600200"/>
            <a:ext cx="2148840" cy="6537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9.898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9995" y="2176272"/>
            <a:ext cx="2148840" cy="4160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linhas carregadas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38563" y="1463040"/>
            <a:ext cx="2148840" cy="1188720"/>
          </a:xfrm>
          <a:prstGeom prst="roundRect">
            <a:avLst>
              <a:gd name="adj" fmla="val 6000"/>
            </a:avLst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38563" y="1600200"/>
            <a:ext cx="2148840" cy="6537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101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8563" y="2176272"/>
            <a:ext cx="2148840" cy="4160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descartes auditados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5577840" cy="29260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315468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Calibri"/>
              </a:rPr>
              <a:t>sql/01_ddl.sql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57600"/>
            <a:ext cx="52120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CREATE TABLE das 9 relações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PKs, FKs com ON UPDATE CASCADE / ON DELETE RESTRICT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CHECK constraints embarcadas (R1, R3, R4...)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Índices em data, UG, portador, favorecido, tipo, ano-mês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01752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15468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 i="0">
                <a:solidFill>
                  <a:srgbClr val="2E7D32"/>
                </a:solidFill>
                <a:latin typeface="Calibri"/>
              </a:rPr>
              <a:t>scripts/carregar_dados.py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57600"/>
            <a:ext cx="51206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Lê CSV em LATIN1, separador ;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Tipa, valida, desduplica, descarta linhas problemáticas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Popula 9 tabelas em ordem topológica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12529"/>
                </a:solidFill>
              </a:rPr>
              <a:t>• Idempotente · suporta PostgreSQL e SQLite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P1 — Quais ministérios mais gastam via CPGF?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JOIN de 3 tabelas + GROUP BY + agregações</a:t>
            </a:r>
          </a:p>
        </p:txBody>
      </p:sp>
      <p:pic>
        <p:nvPicPr>
          <p:cNvPr id="6" name="Picture 5" descr="q1_gasto_por_ministe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" y="1554480"/>
            <a:ext cx="10863072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P2 — Há sazonalidade nos gastos?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GROUP BY composto + agregação temporal</a:t>
            </a:r>
          </a:p>
        </p:txBody>
      </p:sp>
      <p:pic>
        <p:nvPicPr>
          <p:cNvPr id="6" name="Picture 5" descr="q2_serie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9344"/>
            <a:ext cx="12045693" cy="4517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P3 — Top-10 favorecidos e concentração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JOIN + GROUP BY + HAVING + LIMIT</a:t>
            </a:r>
          </a:p>
        </p:txBody>
      </p:sp>
      <p:pic>
        <p:nvPicPr>
          <p:cNvPr id="6" name="Picture 5" descr="q3_top_favoreci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" y="1554480"/>
            <a:ext cx="10863072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P4 — Distribuição por tipo de transação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Saques em espécie merecem monitoramento</a:t>
            </a:r>
          </a:p>
        </p:txBody>
      </p:sp>
      <p:pic>
        <p:nvPicPr>
          <p:cNvPr id="6" name="Picture 5" descr="q4_tipo_trans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0863072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P5 — Outliers por ministério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CTE + RANK() OVER (PARTITION BY ministerio ORDER BY gasto DESC)</a:t>
            </a:r>
          </a:p>
        </p:txBody>
      </p:sp>
      <p:pic>
        <p:nvPicPr>
          <p:cNvPr id="6" name="Picture 5" descr="q5_top_port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926" y="1325880"/>
            <a:ext cx="9387841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Bonus — Além do mínimo exigido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Detecção de anomalias e conexão com a LAI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5577840" cy="4572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P6 — Detecção de anomalias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2120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Critério: |valor| &gt; média + 3·desvio-padrão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&lt; 1% das linhas mas parcela desproporcional do valor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Triagem automatizada — útil ao controle interno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Atende: 'técnicas além do escopo'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486400" cy="4572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E86AB"/>
                </a:solidFill>
                <a:latin typeface="Calibri"/>
              </a:rPr>
              <a:t>Conexão com a LAI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5120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Lei 12.527/2011 — Acesso à Informação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CPGF: dado anonimizado, público, para controle social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Cruzar dimensões = trabalho da CGU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Atende: 'cidadania de dados'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 que entregamos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Síntese dos resultados e próximos passos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4291" y="1463040"/>
            <a:ext cx="2148840" cy="128016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4291" y="1600200"/>
            <a:ext cx="2148840" cy="7040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291" y="2231136"/>
            <a:ext cx="214884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relações em BCNF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2859" y="1463040"/>
            <a:ext cx="2148840" cy="1280160"/>
          </a:xfrm>
          <a:prstGeom prst="roundRect">
            <a:avLst>
              <a:gd name="adj" fmla="val 6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62859" y="1600200"/>
            <a:ext cx="2148840" cy="7040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2859" y="2231136"/>
            <a:ext cx="214884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consultas analíticas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1427" y="1463040"/>
            <a:ext cx="2148840" cy="1280160"/>
          </a:xfrm>
          <a:prstGeom prst="roundRect">
            <a:avLst>
              <a:gd name="adj" fmla="val 6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1427" y="1600200"/>
            <a:ext cx="2148840" cy="7040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1427" y="2231136"/>
            <a:ext cx="214884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window function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79995" y="1463040"/>
            <a:ext cx="2148840" cy="128016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79995" y="1600200"/>
            <a:ext cx="2148840" cy="7040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9995" y="2231136"/>
            <a:ext cx="214884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visualizações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38563" y="1463040"/>
            <a:ext cx="2148840" cy="1280160"/>
          </a:xfrm>
          <a:prstGeom prst="roundRect">
            <a:avLst>
              <a:gd name="adj" fmla="val 6000"/>
            </a:avLst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38563" y="1600200"/>
            <a:ext cx="2148840" cy="7040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8563" y="2231136"/>
            <a:ext cx="214884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bônus contemplados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54680"/>
            <a:ext cx="5577840" cy="26517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329184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Principal aprendizado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794760"/>
            <a:ext cx="52120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A qualidade do modelo conceitual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determina a clareza das consultas.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Um modelo mal normalizado teria forçado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workarounds em cada query analítica.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154680"/>
            <a:ext cx="5486400" cy="26517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29184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Próximos passos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794760"/>
            <a:ext cx="51206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Cruzamento com a base CEIS (Sanções)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Carga incremental mensal automatizada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Dashboard interativo alinhado à LAI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Detecção de padrões via técnicas estatísticas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Triangle 2"/>
          <p:cNvSpPr/>
          <p:nvPr/>
        </p:nvSpPr>
        <p:spPr>
          <a:xfrm>
            <a:off x="0" y="5029200"/>
            <a:ext cx="12191695" cy="1828800"/>
          </a:xfrm>
          <a:prstGeom prst="rtTriangl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400" b="1" i="0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0" i="1">
                <a:solidFill>
                  <a:srgbClr val="E8B40F"/>
                </a:solidFill>
                <a:latin typeface="Calibri"/>
              </a:rPr>
              <a:t>Perguntas?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8B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Declaração de uso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555B66"/>
                </a:solidFill>
                <a:latin typeface="Calibri"/>
              </a:rPr>
              <a:t>Conforme permitido pelo enunciado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5577840" cy="42062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✓  Onde a IA foi usada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212080" cy="841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dirty="0">
                <a:solidFill>
                  <a:srgbClr val="212529"/>
                </a:solidFill>
              </a:rPr>
              <a:t>• </a:t>
            </a:r>
            <a:r>
              <a:rPr sz="1400" dirty="0" err="1">
                <a:solidFill>
                  <a:srgbClr val="212529"/>
                </a:solidFill>
              </a:rPr>
              <a:t>Apoio</a:t>
            </a:r>
            <a:r>
              <a:rPr sz="1400" dirty="0">
                <a:solidFill>
                  <a:srgbClr val="212529"/>
                </a:solidFill>
              </a:rPr>
              <a:t> </a:t>
            </a:r>
            <a:r>
              <a:rPr sz="1400" dirty="0" err="1">
                <a:solidFill>
                  <a:srgbClr val="212529"/>
                </a:solidFill>
              </a:rPr>
              <a:t>na</a:t>
            </a:r>
            <a:r>
              <a:rPr sz="1400" dirty="0">
                <a:solidFill>
                  <a:srgbClr val="212529"/>
                </a:solidFill>
              </a:rPr>
              <a:t> </a:t>
            </a:r>
            <a:r>
              <a:rPr sz="1400" dirty="0" err="1">
                <a:solidFill>
                  <a:srgbClr val="212529"/>
                </a:solidFill>
              </a:rPr>
              <a:t>redação</a:t>
            </a:r>
            <a:r>
              <a:rPr sz="1400" dirty="0">
                <a:solidFill>
                  <a:srgbClr val="212529"/>
                </a:solidFill>
              </a:rPr>
              <a:t> do </a:t>
            </a:r>
            <a:r>
              <a:rPr sz="1400" dirty="0" err="1">
                <a:solidFill>
                  <a:srgbClr val="212529"/>
                </a:solidFill>
              </a:rPr>
              <a:t>relatório</a:t>
            </a:r>
            <a:r>
              <a:rPr sz="1400" dirty="0">
                <a:solidFill>
                  <a:srgbClr val="212529"/>
                </a:solidFill>
              </a:rPr>
              <a:t> e </a:t>
            </a:r>
            <a:r>
              <a:rPr sz="1400" dirty="0" err="1">
                <a:solidFill>
                  <a:srgbClr val="212529"/>
                </a:solidFill>
              </a:rPr>
              <a:t>destes</a:t>
            </a:r>
            <a:r>
              <a:rPr sz="1400" dirty="0">
                <a:solidFill>
                  <a:srgbClr val="212529"/>
                </a:solidFill>
              </a:rPr>
              <a:t> slides</a:t>
            </a:r>
          </a:p>
          <a:p>
            <a:pPr algn="l">
              <a:spcAft>
                <a:spcPts val="400"/>
              </a:spcAft>
            </a:pPr>
            <a:r>
              <a:rPr sz="1400" dirty="0">
                <a:solidFill>
                  <a:srgbClr val="212529"/>
                </a:solidFill>
              </a:rPr>
              <a:t>• Sugestões de boas </a:t>
            </a:r>
            <a:r>
              <a:rPr sz="1400" dirty="0" err="1">
                <a:solidFill>
                  <a:srgbClr val="212529"/>
                </a:solidFill>
              </a:rPr>
              <a:t>práticas</a:t>
            </a:r>
            <a:r>
              <a:rPr sz="1400" dirty="0">
                <a:solidFill>
                  <a:srgbClr val="212529"/>
                </a:solidFill>
              </a:rPr>
              <a:t> </a:t>
            </a:r>
            <a:r>
              <a:rPr sz="1400" dirty="0" err="1">
                <a:solidFill>
                  <a:srgbClr val="212529"/>
                </a:solidFill>
              </a:rPr>
              <a:t>em</a:t>
            </a:r>
            <a:r>
              <a:rPr sz="1400" dirty="0">
                <a:solidFill>
                  <a:srgbClr val="212529"/>
                </a:solidFill>
              </a:rPr>
              <a:t> SQL e </a:t>
            </a:r>
            <a:r>
              <a:rPr sz="1400" dirty="0" err="1">
                <a:solidFill>
                  <a:srgbClr val="212529"/>
                </a:solidFill>
              </a:rPr>
              <a:t>modelagem</a:t>
            </a:r>
            <a:r>
              <a:rPr sz="1400" dirty="0">
                <a:solidFill>
                  <a:srgbClr val="212529"/>
                </a:solidFill>
              </a:rPr>
              <a:t> ER/EER</a:t>
            </a:r>
          </a:p>
          <a:p>
            <a:pPr algn="l">
              <a:spcAft>
                <a:spcPts val="400"/>
              </a:spcAft>
            </a:pPr>
            <a:r>
              <a:rPr sz="1400" dirty="0">
                <a:solidFill>
                  <a:srgbClr val="212529"/>
                </a:solidFill>
              </a:rPr>
              <a:t>• </a:t>
            </a:r>
            <a:r>
              <a:rPr sz="1400" dirty="0" err="1">
                <a:solidFill>
                  <a:srgbClr val="212529"/>
                </a:solidFill>
              </a:rPr>
              <a:t>Revisão</a:t>
            </a:r>
            <a:r>
              <a:rPr sz="1400" dirty="0">
                <a:solidFill>
                  <a:srgbClr val="212529"/>
                </a:solidFill>
              </a:rPr>
              <a:t> </a:t>
            </a:r>
            <a:r>
              <a:rPr sz="1400" dirty="0" err="1">
                <a:solidFill>
                  <a:srgbClr val="212529"/>
                </a:solidFill>
              </a:rPr>
              <a:t>ortográfica</a:t>
            </a:r>
            <a:endParaRPr sz="1400" dirty="0">
              <a:solidFill>
                <a:srgbClr val="212529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✗  O que NÃO foi delegado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51206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Decisões de modelagem e normalização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Interpretação dos resultados e discussão crítica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Escolha do dataset e perguntas analíticas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12529"/>
                </a:solidFill>
              </a:rPr>
              <a:t>• Validação dos achados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555B66"/>
                </a:solidFill>
                <a:latin typeface="Calibri"/>
              </a:rPr>
              <a:t>Ferramenta: assistente de IA generativa. Bibliotecas no README: pandas, matplotlib, graphviz, python-docx, python-pptx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1">
                <a:solidFill>
                  <a:srgbClr val="1F3A5F"/>
                </a:solidFill>
                <a:latin typeface="Calibri"/>
              </a:rPr>
              <a:t>TP Banco de Dados · DCC/UFMG · 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1022</Words>
  <Application>Microsoft Office PowerPoint</Application>
  <PresentationFormat>Widescreen</PresentationFormat>
  <Paragraphs>170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Lucas Soares Benfica</cp:lastModifiedBy>
  <cp:revision>2</cp:revision>
  <dcterms:created xsi:type="dcterms:W3CDTF">2013-01-27T09:14:16Z</dcterms:created>
  <dcterms:modified xsi:type="dcterms:W3CDTF">2026-06-23T01:54:40Z</dcterms:modified>
  <cp:category/>
</cp:coreProperties>
</file>